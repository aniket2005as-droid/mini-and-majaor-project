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3" r:id="rId27"/>
  </p:sldIdLst>
  <p:sldSz cx="18288000" cy="10287000"/>
  <p:notesSz cx="6858000" cy="9144000"/>
  <p:embeddedFontLst>
    <p:embeddedFont>
      <p:font typeface="Aileron Bold" panose="020B0604020202020204" charset="0"/>
      <p:regular r:id="rId28"/>
    </p:embeddedFont>
    <p:embeddedFont>
      <p:font typeface="Montserrat" panose="00000500000000000000" pitchFamily="2" charset="0"/>
      <p:regular r:id="rId29"/>
    </p:embeddedFont>
    <p:embeddedFont>
      <p:font typeface="Montserrat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ET ANIKET" userId="5c01340182589ca7" providerId="LiveId" clId="{0EE91DC9-4606-4564-994F-BACFB4DA1380}"/>
    <pc:docChg chg="undo custSel addSld delSld modSld">
      <pc:chgData name="ANIKET ANIKET" userId="5c01340182589ca7" providerId="LiveId" clId="{0EE91DC9-4606-4564-994F-BACFB4DA1380}" dt="2026-07-02T06:11:56.570" v="135"/>
      <pc:docMkLst>
        <pc:docMk/>
      </pc:docMkLst>
      <pc:sldChg chg="delSp modSp mod">
        <pc:chgData name="ANIKET ANIKET" userId="5c01340182589ca7" providerId="LiveId" clId="{0EE91DC9-4606-4564-994F-BACFB4DA1380}" dt="2026-07-02T06:11:56.570" v="135"/>
        <pc:sldMkLst>
          <pc:docMk/>
          <pc:sldMk cId="0" sldId="256"/>
        </pc:sldMkLst>
        <pc:spChg chg="mod">
          <ac:chgData name="ANIKET ANIKET" userId="5c01340182589ca7" providerId="LiveId" clId="{0EE91DC9-4606-4564-994F-BACFB4DA1380}" dt="2026-07-02T04:56:13.215" v="12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NIKET ANIKET" userId="5c01340182589ca7" providerId="LiveId" clId="{0EE91DC9-4606-4564-994F-BACFB4DA1380}" dt="2026-07-02T04:56:09.070" v="128" actId="20577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ANIKET ANIKET" userId="5c01340182589ca7" providerId="LiveId" clId="{0EE91DC9-4606-4564-994F-BACFB4DA1380}" dt="2026-07-02T06:11:56.570" v="135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ANIKET ANIKET" userId="5c01340182589ca7" providerId="LiveId" clId="{0EE91DC9-4606-4564-994F-BACFB4DA1380}" dt="2026-06-30T13:14:26.360" v="77" actId="1038"/>
        <pc:sldMkLst>
          <pc:docMk/>
          <pc:sldMk cId="0" sldId="268"/>
        </pc:sldMkLst>
        <pc:spChg chg="mod">
          <ac:chgData name="ANIKET ANIKET" userId="5c01340182589ca7" providerId="LiveId" clId="{0EE91DC9-4606-4564-994F-BACFB4DA1380}" dt="2026-06-30T13:14:26.360" v="77" actId="1038"/>
          <ac:spMkLst>
            <pc:docMk/>
            <pc:sldMk cId="0" sldId="268"/>
            <ac:spMk id="2" creationId="{00000000-0000-0000-0000-000000000000}"/>
          </ac:spMkLst>
        </pc:spChg>
        <pc:spChg chg="mod">
          <ac:chgData name="ANIKET ANIKET" userId="5c01340182589ca7" providerId="LiveId" clId="{0EE91DC9-4606-4564-994F-BACFB4DA1380}" dt="2026-06-30T13:14:15.647" v="76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ANIKET ANIKET" userId="5c01340182589ca7" providerId="LiveId" clId="{0EE91DC9-4606-4564-994F-BACFB4DA1380}" dt="2026-06-30T13:15:27.823" v="83" actId="20577"/>
        <pc:sldMkLst>
          <pc:docMk/>
          <pc:sldMk cId="0" sldId="270"/>
        </pc:sldMkLst>
        <pc:spChg chg="mod">
          <ac:chgData name="ANIKET ANIKET" userId="5c01340182589ca7" providerId="LiveId" clId="{0EE91DC9-4606-4564-994F-BACFB4DA1380}" dt="2026-06-30T13:15:27.823" v="83" actId="2057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ANIKET ANIKET" userId="5c01340182589ca7" providerId="LiveId" clId="{0EE91DC9-4606-4564-994F-BACFB4DA1380}" dt="2026-06-30T13:16:10.945" v="101" actId="20577"/>
        <pc:sldMkLst>
          <pc:docMk/>
          <pc:sldMk cId="0" sldId="272"/>
        </pc:sldMkLst>
        <pc:spChg chg="mod">
          <ac:chgData name="ANIKET ANIKET" userId="5c01340182589ca7" providerId="LiveId" clId="{0EE91DC9-4606-4564-994F-BACFB4DA1380}" dt="2026-06-30T13:16:10.945" v="101" actId="20577"/>
          <ac:spMkLst>
            <pc:docMk/>
            <pc:sldMk cId="0" sldId="272"/>
            <ac:spMk id="8" creationId="{00000000-0000-0000-0000-000000000000}"/>
          </ac:spMkLst>
        </pc:spChg>
      </pc:sldChg>
      <pc:sldChg chg="modSp mod">
        <pc:chgData name="ANIKET ANIKET" userId="5c01340182589ca7" providerId="LiveId" clId="{0EE91DC9-4606-4564-994F-BACFB4DA1380}" dt="2026-06-30T13:17:13.125" v="107" actId="20577"/>
        <pc:sldMkLst>
          <pc:docMk/>
          <pc:sldMk cId="0" sldId="274"/>
        </pc:sldMkLst>
        <pc:spChg chg="mod">
          <ac:chgData name="ANIKET ANIKET" userId="5c01340182589ca7" providerId="LiveId" clId="{0EE91DC9-4606-4564-994F-BACFB4DA1380}" dt="2026-06-30T13:17:13.125" v="107" actId="20577"/>
          <ac:spMkLst>
            <pc:docMk/>
            <pc:sldMk cId="0" sldId="274"/>
            <ac:spMk id="8" creationId="{00000000-0000-0000-0000-000000000000}"/>
          </ac:spMkLst>
        </pc:spChg>
      </pc:sldChg>
      <pc:sldChg chg="modSp del mod">
        <pc:chgData name="ANIKET ANIKET" userId="5c01340182589ca7" providerId="LiveId" clId="{0EE91DC9-4606-4564-994F-BACFB4DA1380}" dt="2026-07-02T05:30:15.627" v="130" actId="2696"/>
        <pc:sldMkLst>
          <pc:docMk/>
          <pc:sldMk cId="0" sldId="278"/>
        </pc:sldMkLst>
        <pc:spChg chg="mod">
          <ac:chgData name="ANIKET ANIKET" userId="5c01340182589ca7" providerId="LiveId" clId="{0EE91DC9-4606-4564-994F-BACFB4DA1380}" dt="2026-07-01T14:13:21.143" v="109" actId="1038"/>
          <ac:spMkLst>
            <pc:docMk/>
            <pc:sldMk cId="0" sldId="278"/>
            <ac:spMk id="9" creationId="{00000000-0000-0000-0000-000000000000}"/>
          </ac:spMkLst>
        </pc:spChg>
      </pc:sldChg>
      <pc:sldChg chg="add del">
        <pc:chgData name="ANIKET ANIKET" userId="5c01340182589ca7" providerId="LiveId" clId="{0EE91DC9-4606-4564-994F-BACFB4DA1380}" dt="2026-07-02T05:32:51.949" v="132" actId="2696"/>
        <pc:sldMkLst>
          <pc:docMk/>
          <pc:sldMk cId="0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4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4145" y="0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H="1" flipV="1">
            <a:off x="-1748364" y="8843932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169859" y="5618309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73028" y="2366101"/>
            <a:ext cx="10792006" cy="232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72"/>
              </a:lnSpc>
            </a:pPr>
            <a:r>
              <a:rPr lang="en-US" sz="8478" b="1" dirty="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Library Management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21752" y="5060912"/>
            <a:ext cx="6244495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22"/>
              </a:lnSpc>
            </a:pPr>
            <a:r>
              <a:rPr lang="en-US" sz="4507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Using Python &amp; </a:t>
            </a:r>
            <a:r>
              <a:rPr lang="en-US" sz="4507" b="1" dirty="0" err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Tkinter</a:t>
            </a:r>
            <a:endParaRPr lang="en-US" sz="4507" b="1" dirty="0">
              <a:solidFill>
                <a:srgbClr val="576179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0" lvl="0" indent="0" algn="ctr">
              <a:lnSpc>
                <a:spcPts val="4822"/>
              </a:lnSpc>
            </a:pPr>
            <a:r>
              <a:rPr lang="en-US" sz="4507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 Name : Aniket </a:t>
            </a:r>
          </a:p>
          <a:p>
            <a:pPr marL="0" lvl="0" indent="0" algn="ctr">
              <a:lnSpc>
                <a:spcPts val="4822"/>
              </a:lnSpc>
            </a:pPr>
            <a:r>
              <a:rPr lang="en-US" sz="4507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Roll NO. : 2547240 Summer </a:t>
            </a:r>
            <a:r>
              <a:rPr lang="en-US" sz="4507" b="1" dirty="0" err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Traning</a:t>
            </a:r>
            <a:r>
              <a:rPr lang="en-US" sz="4507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  </a:t>
            </a:r>
          </a:p>
          <a:p>
            <a:pPr marL="0" lvl="0" indent="0" algn="ctr">
              <a:lnSpc>
                <a:spcPts val="4822"/>
              </a:lnSpc>
            </a:pPr>
            <a:r>
              <a:rPr lang="en-US" sz="4507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 2026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-1050468" y="1355173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899722" y="2093925"/>
            <a:ext cx="9894900" cy="8108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6"/>
              </a:lnSpc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Library Management System (LMS) is a software solution designed to automate and streamline library operations.</a:t>
            </a:r>
          </a:p>
          <a:p>
            <a:pPr marL="603818" lvl="1" indent="-301909" algn="l">
              <a:lnSpc>
                <a:spcPts val="430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Digitizes book cataloguing and member records</a:t>
            </a:r>
          </a:p>
          <a:p>
            <a:pPr marL="603818" lvl="1" indent="-301909" algn="l">
              <a:lnSpc>
                <a:spcPts val="430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Automates lending, returns, and tracking</a:t>
            </a:r>
          </a:p>
          <a:p>
            <a:pPr marL="603818" lvl="1" indent="-301909" algn="l">
              <a:lnSpc>
                <a:spcPts val="430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Eliminates manual paperwork and human errors</a:t>
            </a:r>
          </a:p>
          <a:p>
            <a:pPr marL="603818" lvl="1" indent="-301909" algn="l">
              <a:lnSpc>
                <a:spcPts val="430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Provides quick access to library data and reports</a:t>
            </a:r>
          </a:p>
          <a:p>
            <a:pPr marL="603818" lvl="1" indent="-301909" algn="l">
              <a:lnSpc>
                <a:spcPts val="430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Maintains real-time book availability status</a:t>
            </a:r>
          </a:p>
          <a:p>
            <a:pPr marL="603818" lvl="1" indent="-301909" algn="l">
              <a:lnSpc>
                <a:spcPts val="430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Reduces time spent on record searching and updates</a:t>
            </a:r>
          </a:p>
          <a:p>
            <a:pPr marL="603818" lvl="1" indent="-301909" algn="l">
              <a:lnSpc>
                <a:spcPts val="430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Improves accuracy in tracking borrowed and returned books</a:t>
            </a:r>
          </a:p>
          <a:p>
            <a:pPr marL="603818" lvl="1" indent="-301909" algn="l">
              <a:lnSpc>
                <a:spcPts val="430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Centralizes all library data in a single, secure database</a:t>
            </a:r>
          </a:p>
          <a:p>
            <a:pPr marL="0" lvl="0" indent="0" algn="l">
              <a:lnSpc>
                <a:spcPts val="4306"/>
              </a:lnSpc>
            </a:pPr>
            <a:endParaRPr lang="en-US" sz="2796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746790" y="323781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8"/>
                </a:lnTo>
                <a:lnTo>
                  <a:pt x="0" y="1409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946938" y="618718"/>
            <a:ext cx="4914903" cy="89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3"/>
              </a:lnSpc>
            </a:pPr>
            <a:r>
              <a:rPr lang="en-US" sz="6395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96550" y="4452812"/>
            <a:ext cx="9894900" cy="376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6"/>
              </a:lnSpc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Manual record-keeping leads to frequent errors and data loss.</a:t>
            </a:r>
          </a:p>
          <a:p>
            <a:pPr marL="0" lvl="0" indent="0" algn="l">
              <a:lnSpc>
                <a:spcPts val="4306"/>
              </a:lnSpc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Difficult to track book lending and timely returns.</a:t>
            </a:r>
          </a:p>
          <a:p>
            <a:pPr marL="0" lvl="0" indent="0" algn="l">
              <a:lnSpc>
                <a:spcPts val="4306"/>
              </a:lnSpc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Time-consuming processes for both staff and members.</a:t>
            </a:r>
          </a:p>
          <a:p>
            <a:pPr marL="0" lvl="0" indent="0" algn="l">
              <a:lnSpc>
                <a:spcPts val="4306"/>
              </a:lnSpc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No centralized system for managing library resources efficiently.</a:t>
            </a: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02770" y="2866455"/>
            <a:ext cx="5500573" cy="658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5"/>
              </a:lnSpc>
            </a:pPr>
            <a:r>
              <a:rPr lang="en-US" sz="4686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39565"/>
            <a:ext cx="4914903" cy="89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3"/>
              </a:lnSpc>
            </a:pPr>
            <a:r>
              <a:rPr lang="en-US" sz="639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Objectives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06152"/>
            <a:ext cx="9894900" cy="187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78"/>
              </a:lnSpc>
            </a:pPr>
            <a:r>
              <a:rPr lang="en-US" sz="329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 book and member management — streamline adding, updating, and tracking all books and library members efficiently.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9661" y="6488692"/>
            <a:ext cx="9894900" cy="187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78"/>
              </a:lnSpc>
            </a:pPr>
            <a:r>
              <a:rPr lang="en-US" sz="329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Enable easy lending and return process — simplify issuing books to members and recording returns with minimal effort.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267488"/>
            <a:ext cx="1056248" cy="17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4"/>
              </a:lnSpc>
            </a:pPr>
            <a:r>
              <a:rPr lang="en-US" sz="6433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97333" y="6194269"/>
            <a:ext cx="1055989" cy="17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0"/>
              </a:lnSpc>
            </a:pPr>
            <a:r>
              <a:rPr lang="en-US" sz="6432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39565"/>
            <a:ext cx="4914903" cy="89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3"/>
              </a:lnSpc>
            </a:pPr>
            <a:r>
              <a:rPr lang="en-US" sz="639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Objectives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06152"/>
            <a:ext cx="9894900" cy="123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81"/>
              </a:lnSpc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 quick search and filter options for books by title, author, or language.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9661" y="6488692"/>
            <a:ext cx="9894900" cy="123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81"/>
              </a:lnSpc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Generate useful statistics and reports on books, members, and lending activity.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267488"/>
            <a:ext cx="1056248" cy="17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4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194269"/>
            <a:ext cx="1055989" cy="17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0"/>
              </a:lnSpc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39565"/>
            <a:ext cx="4914903" cy="89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3"/>
              </a:lnSpc>
            </a:pPr>
            <a:r>
              <a:rPr lang="en-US" sz="639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Scope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06152"/>
            <a:ext cx="9894900" cy="187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78"/>
              </a:lnSpc>
            </a:pPr>
            <a:r>
              <a:rPr lang="en-US" sz="329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Manage books, members, and lending transactions with a focus on small to medium libraries.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9661" y="6488692"/>
            <a:ext cx="9894900" cy="123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78"/>
              </a:lnSpc>
            </a:pPr>
            <a:r>
              <a:rPr lang="en-US" sz="329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User-friendly GUI interface with SQLite3 for lightweight, reliable local data storage.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267488"/>
            <a:ext cx="1056248" cy="17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4"/>
              </a:lnSpc>
            </a:pPr>
            <a:r>
              <a:rPr lang="en-US" sz="6433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97333" y="6194269"/>
            <a:ext cx="1055989" cy="17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0"/>
              </a:lnSpc>
            </a:pPr>
            <a:r>
              <a:rPr lang="en-US" sz="6432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01465"/>
            <a:ext cx="4914903" cy="48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88"/>
              </a:lnSpc>
            </a:pPr>
            <a:r>
              <a:rPr lang="en-US" sz="3447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Tools and Technologies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06152"/>
            <a:ext cx="9894900" cy="1797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5"/>
              </a:lnSpc>
            </a:pPr>
            <a:r>
              <a:rPr lang="en-US" sz="315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 — Core programming language used for logic, database operations, and application flow.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9661" y="6488692"/>
            <a:ext cx="9894900" cy="1797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5"/>
              </a:lnSpc>
            </a:pPr>
            <a:r>
              <a:rPr lang="en-US" sz="3159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Tkinter</a:t>
            </a:r>
            <a:r>
              <a:rPr lang="en-US" sz="315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— GUI toolkit for building the interface. SQLite3 — Lightweight, file-based database for storing books, members, and lending records.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629438"/>
            <a:ext cx="1056248" cy="962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670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556219"/>
            <a:ext cx="1055989" cy="96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668"/>
              </a:lnSpc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96550" y="4452812"/>
            <a:ext cx="9894900" cy="376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6"/>
              </a:lnSpc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User Interface (Tkinter): Input forms, navigation, and data display</a:t>
            </a:r>
          </a:p>
          <a:p>
            <a:pPr marL="0" lvl="0" indent="0" algn="l">
              <a:lnSpc>
                <a:spcPts val="4306"/>
              </a:lnSpc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Database Layer (SQLite3): Stores books, members, and lending records</a:t>
            </a:r>
          </a:p>
          <a:p>
            <a:pPr marL="0" lvl="0" indent="0" algn="l">
              <a:lnSpc>
                <a:spcPts val="4306"/>
              </a:lnSpc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Core Modules: Add Book, Add Member, Lend/Return, Search, Statistics</a:t>
            </a:r>
          </a:p>
          <a:p>
            <a:pPr marL="0" lvl="0" indent="0" algn="l">
              <a:lnSpc>
                <a:spcPts val="4306"/>
              </a:lnSpc>
            </a:pPr>
            <a:r>
              <a:rPr lang="en-US" sz="27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Data flows from GUI → Modules → Database and back</a:t>
            </a:r>
          </a:p>
        </p:txBody>
      </p:sp>
      <p:sp>
        <p:nvSpPr>
          <p:cNvPr id="9" name="Freeform 9"/>
          <p:cNvSpPr/>
          <p:nvPr/>
        </p:nvSpPr>
        <p:spPr>
          <a:xfrm>
            <a:off x="4434430" y="2659821"/>
            <a:ext cx="6690042" cy="1287833"/>
          </a:xfrm>
          <a:custGeom>
            <a:avLst/>
            <a:gdLst/>
            <a:ahLst/>
            <a:cxnLst/>
            <a:rect l="l" t="t" r="r" b="b"/>
            <a:pathLst>
              <a:path w="6690042" h="1287833">
                <a:moveTo>
                  <a:pt x="0" y="0"/>
                </a:moveTo>
                <a:lnTo>
                  <a:pt x="6690042" y="0"/>
                </a:lnTo>
                <a:lnTo>
                  <a:pt x="6690042" y="1287833"/>
                </a:lnTo>
                <a:lnTo>
                  <a:pt x="0" y="1287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727191" y="2866455"/>
            <a:ext cx="4914903" cy="56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98"/>
              </a:lnSpc>
            </a:pPr>
            <a:r>
              <a:rPr lang="en-US" sz="4017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System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96550" y="4452812"/>
            <a:ext cx="9894900" cy="327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0"/>
              </a:lnSpc>
            </a:pPr>
            <a:r>
              <a:rPr lang="en-US" sz="283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📚 Books Table</a:t>
            </a:r>
          </a:p>
          <a:p>
            <a:pPr marL="0" lvl="0" indent="0" algn="l">
              <a:lnSpc>
                <a:spcPts val="4360"/>
              </a:lnSpc>
            </a:pPr>
            <a:r>
              <a:rPr lang="en-US" sz="283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BookID | Title | Author | Pages | Language | Status</a:t>
            </a:r>
          </a:p>
          <a:p>
            <a:pPr marL="0" lvl="0" indent="0" algn="l">
              <a:lnSpc>
                <a:spcPts val="4360"/>
              </a:lnSpc>
            </a:pPr>
            <a:r>
              <a:rPr lang="en-US" sz="283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👤 Members Table</a:t>
            </a:r>
          </a:p>
          <a:p>
            <a:pPr marL="0" lvl="0" indent="0" algn="l">
              <a:lnSpc>
                <a:spcPts val="4360"/>
              </a:lnSpc>
            </a:pPr>
            <a:r>
              <a:rPr lang="en-US" sz="283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MemberID | Name | Contact | </a:t>
            </a:r>
          </a:p>
          <a:p>
            <a:pPr marL="0" lvl="0" indent="0" algn="l">
              <a:lnSpc>
                <a:spcPts val="4360"/>
              </a:lnSpc>
            </a:pPr>
            <a:r>
              <a:rPr lang="en-US" sz="283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🔄 LendRecords Table</a:t>
            </a:r>
          </a:p>
          <a:p>
            <a:pPr marL="0" lvl="0" indent="0" algn="l">
              <a:lnSpc>
                <a:spcPts val="4360"/>
              </a:lnSpc>
            </a:pPr>
            <a:r>
              <a:rPr lang="en-US" sz="283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LendID | BookID | MemberID | Lend Date | Return Date</a:t>
            </a: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02770" y="2875980"/>
            <a:ext cx="5500573" cy="755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31"/>
              </a:lnSpc>
            </a:pPr>
            <a:r>
              <a:rPr lang="en-US" sz="5356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Database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93727"/>
            <a:ext cx="6513784" cy="4930807"/>
          </a:xfrm>
          <a:custGeom>
            <a:avLst/>
            <a:gdLst/>
            <a:ahLst/>
            <a:cxnLst/>
            <a:rect l="l" t="t" r="r" b="b"/>
            <a:pathLst>
              <a:path w="6513784" h="4930807">
                <a:moveTo>
                  <a:pt x="0" y="0"/>
                </a:moveTo>
                <a:lnTo>
                  <a:pt x="6513784" y="0"/>
                </a:lnTo>
                <a:lnTo>
                  <a:pt x="6513784" y="4930807"/>
                </a:lnTo>
                <a:lnTo>
                  <a:pt x="0" y="4930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513784" y="5143500"/>
            <a:ext cx="10710314" cy="5062466"/>
          </a:xfrm>
          <a:custGeom>
            <a:avLst/>
            <a:gdLst/>
            <a:ahLst/>
            <a:cxnLst/>
            <a:rect l="l" t="t" r="r" b="b"/>
            <a:pathLst>
              <a:path w="10710314" h="5062466">
                <a:moveTo>
                  <a:pt x="0" y="0"/>
                </a:moveTo>
                <a:lnTo>
                  <a:pt x="10710314" y="0"/>
                </a:lnTo>
                <a:lnTo>
                  <a:pt x="10710314" y="5062466"/>
                </a:lnTo>
                <a:lnTo>
                  <a:pt x="0" y="5062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950454" y="1982997"/>
            <a:ext cx="6848464" cy="5450819"/>
          </a:xfrm>
          <a:custGeom>
            <a:avLst/>
            <a:gdLst/>
            <a:ahLst/>
            <a:cxnLst/>
            <a:rect l="l" t="t" r="r" b="b"/>
            <a:pathLst>
              <a:path w="6848464" h="5450819">
                <a:moveTo>
                  <a:pt x="0" y="0"/>
                </a:moveTo>
                <a:lnTo>
                  <a:pt x="6848465" y="0"/>
                </a:lnTo>
                <a:lnTo>
                  <a:pt x="6848465" y="5450818"/>
                </a:lnTo>
                <a:lnTo>
                  <a:pt x="0" y="5450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70802" y="1838313"/>
            <a:ext cx="9745654" cy="7419987"/>
          </a:xfrm>
          <a:custGeom>
            <a:avLst/>
            <a:gdLst/>
            <a:ahLst/>
            <a:cxnLst/>
            <a:rect l="l" t="t" r="r" b="b"/>
            <a:pathLst>
              <a:path w="9745654" h="7419987">
                <a:moveTo>
                  <a:pt x="0" y="0"/>
                </a:moveTo>
                <a:lnTo>
                  <a:pt x="9745655" y="0"/>
                </a:lnTo>
                <a:lnTo>
                  <a:pt x="9745655" y="7419987"/>
                </a:lnTo>
                <a:lnTo>
                  <a:pt x="0" y="7419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3433" y="136527"/>
            <a:ext cx="8984874" cy="6720168"/>
          </a:xfrm>
          <a:custGeom>
            <a:avLst/>
            <a:gdLst/>
            <a:ahLst/>
            <a:cxnLst/>
            <a:rect l="l" t="t" r="r" b="b"/>
            <a:pathLst>
              <a:path w="8984874" h="6720168">
                <a:moveTo>
                  <a:pt x="0" y="0"/>
                </a:moveTo>
                <a:lnTo>
                  <a:pt x="8984874" y="0"/>
                </a:lnTo>
                <a:lnTo>
                  <a:pt x="8984874" y="6720168"/>
                </a:lnTo>
                <a:lnTo>
                  <a:pt x="0" y="6720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907843" y="6908889"/>
            <a:ext cx="12634087" cy="3014496"/>
          </a:xfrm>
          <a:custGeom>
            <a:avLst/>
            <a:gdLst/>
            <a:ahLst/>
            <a:cxnLst/>
            <a:rect l="l" t="t" r="r" b="b"/>
            <a:pathLst>
              <a:path w="12634087" h="3014496">
                <a:moveTo>
                  <a:pt x="0" y="0"/>
                </a:moveTo>
                <a:lnTo>
                  <a:pt x="12634087" y="0"/>
                </a:lnTo>
                <a:lnTo>
                  <a:pt x="12634087" y="3014496"/>
                </a:lnTo>
                <a:lnTo>
                  <a:pt x="0" y="3014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69487" y="1374684"/>
            <a:ext cx="8499513" cy="7092235"/>
          </a:xfrm>
          <a:custGeom>
            <a:avLst/>
            <a:gdLst/>
            <a:ahLst/>
            <a:cxnLst/>
            <a:rect l="l" t="t" r="r" b="b"/>
            <a:pathLst>
              <a:path w="8499513" h="7092235">
                <a:moveTo>
                  <a:pt x="0" y="0"/>
                </a:moveTo>
                <a:lnTo>
                  <a:pt x="8499513" y="0"/>
                </a:lnTo>
                <a:lnTo>
                  <a:pt x="8499513" y="7092235"/>
                </a:lnTo>
                <a:lnTo>
                  <a:pt x="0" y="7092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68996" y="3546063"/>
            <a:ext cx="4216555" cy="4279221"/>
          </a:xfrm>
          <a:custGeom>
            <a:avLst/>
            <a:gdLst/>
            <a:ahLst/>
            <a:cxnLst/>
            <a:rect l="l" t="t" r="r" b="b"/>
            <a:pathLst>
              <a:path w="4216555" h="4279221">
                <a:moveTo>
                  <a:pt x="0" y="0"/>
                </a:moveTo>
                <a:lnTo>
                  <a:pt x="4216555" y="0"/>
                </a:lnTo>
                <a:lnTo>
                  <a:pt x="4216555" y="4279221"/>
                </a:lnTo>
                <a:lnTo>
                  <a:pt x="0" y="4279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9293" y="-1060177"/>
            <a:ext cx="5381659" cy="5368000"/>
          </a:xfrm>
          <a:custGeom>
            <a:avLst/>
            <a:gdLst/>
            <a:ahLst/>
            <a:cxnLst/>
            <a:rect l="l" t="t" r="r" b="b"/>
            <a:pathLst>
              <a:path w="5381659" h="5368000">
                <a:moveTo>
                  <a:pt x="0" y="0"/>
                </a:moveTo>
                <a:lnTo>
                  <a:pt x="5381659" y="0"/>
                </a:lnTo>
                <a:lnTo>
                  <a:pt x="5381659" y="5368000"/>
                </a:lnTo>
                <a:lnTo>
                  <a:pt x="0" y="536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736650" y="6044679"/>
            <a:ext cx="5581585" cy="5456156"/>
          </a:xfrm>
          <a:custGeom>
            <a:avLst/>
            <a:gdLst/>
            <a:ahLst/>
            <a:cxnLst/>
            <a:rect l="l" t="t" r="r" b="b"/>
            <a:pathLst>
              <a:path w="5581585" h="5456156">
                <a:moveTo>
                  <a:pt x="0" y="0"/>
                </a:moveTo>
                <a:lnTo>
                  <a:pt x="5581585" y="0"/>
                </a:lnTo>
                <a:lnTo>
                  <a:pt x="5581585" y="5456156"/>
                </a:lnTo>
                <a:lnTo>
                  <a:pt x="0" y="54561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887907" y="4439079"/>
            <a:ext cx="9894900" cy="32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Add new book records to the database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Fields: Name, Author, Languages, Status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Validates input before saving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Instant confirmation on successful entry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Data stored in SQLite3 Books table</a:t>
            </a: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727191" y="2866455"/>
            <a:ext cx="4914903" cy="55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26"/>
              </a:lnSpc>
            </a:pPr>
            <a:r>
              <a:rPr lang="en-US" sz="3949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Module 1 - Add Book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68996" y="3546063"/>
            <a:ext cx="4216555" cy="4279221"/>
          </a:xfrm>
          <a:custGeom>
            <a:avLst/>
            <a:gdLst/>
            <a:ahLst/>
            <a:cxnLst/>
            <a:rect l="l" t="t" r="r" b="b"/>
            <a:pathLst>
              <a:path w="4216555" h="4279221">
                <a:moveTo>
                  <a:pt x="0" y="0"/>
                </a:moveTo>
                <a:lnTo>
                  <a:pt x="4216555" y="0"/>
                </a:lnTo>
                <a:lnTo>
                  <a:pt x="4216555" y="4279221"/>
                </a:lnTo>
                <a:lnTo>
                  <a:pt x="0" y="427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293" y="-1060177"/>
            <a:ext cx="5381659" cy="5368000"/>
          </a:xfrm>
          <a:custGeom>
            <a:avLst/>
            <a:gdLst/>
            <a:ahLst/>
            <a:cxnLst/>
            <a:rect l="l" t="t" r="r" b="b"/>
            <a:pathLst>
              <a:path w="5381659" h="5368000">
                <a:moveTo>
                  <a:pt x="0" y="0"/>
                </a:moveTo>
                <a:lnTo>
                  <a:pt x="5381659" y="0"/>
                </a:lnTo>
                <a:lnTo>
                  <a:pt x="5381659" y="5368000"/>
                </a:lnTo>
                <a:lnTo>
                  <a:pt x="0" y="536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36650" y="6044679"/>
            <a:ext cx="5581585" cy="5456156"/>
          </a:xfrm>
          <a:custGeom>
            <a:avLst/>
            <a:gdLst/>
            <a:ahLst/>
            <a:cxnLst/>
            <a:rect l="l" t="t" r="r" b="b"/>
            <a:pathLst>
              <a:path w="5581585" h="5456156">
                <a:moveTo>
                  <a:pt x="0" y="0"/>
                </a:moveTo>
                <a:lnTo>
                  <a:pt x="5581585" y="0"/>
                </a:lnTo>
                <a:lnTo>
                  <a:pt x="5581585" y="5456156"/>
                </a:lnTo>
                <a:lnTo>
                  <a:pt x="0" y="54561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362366" y="327288"/>
            <a:ext cx="7091960" cy="8125245"/>
          </a:xfrm>
          <a:custGeom>
            <a:avLst/>
            <a:gdLst/>
            <a:ahLst/>
            <a:cxnLst/>
            <a:rect l="l" t="t" r="r" b="b"/>
            <a:pathLst>
              <a:path w="7091960" h="8125245">
                <a:moveTo>
                  <a:pt x="0" y="0"/>
                </a:moveTo>
                <a:lnTo>
                  <a:pt x="7091959" y="0"/>
                </a:lnTo>
                <a:lnTo>
                  <a:pt x="7091959" y="8125245"/>
                </a:lnTo>
                <a:lnTo>
                  <a:pt x="0" y="8125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75" r="-10" b="-4662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96550" y="4443287"/>
            <a:ext cx="9894900" cy="318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27"/>
              </a:lnSpc>
            </a:pPr>
            <a:r>
              <a:rPr lang="en-US" sz="2744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Register new library members into the system with ease.</a:t>
            </a:r>
          </a:p>
          <a:p>
            <a:pPr marL="0" lvl="0" indent="0" algn="l">
              <a:lnSpc>
                <a:spcPts val="4227"/>
              </a:lnSpc>
            </a:pPr>
            <a:r>
              <a:rPr lang="en-US" sz="2744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Member Name: Full name of the library member</a:t>
            </a:r>
          </a:p>
          <a:p>
            <a:pPr marL="0" lvl="0" indent="0" algn="l">
              <a:lnSpc>
                <a:spcPts val="4227"/>
              </a:lnSpc>
            </a:pPr>
            <a:r>
              <a:rPr lang="en-US" sz="2744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Contact Info: Phone number </a:t>
            </a:r>
          </a:p>
          <a:p>
            <a:pPr marL="0" lvl="0" indent="0" algn="l">
              <a:lnSpc>
                <a:spcPts val="4227"/>
              </a:lnSpc>
            </a:pPr>
            <a:r>
              <a:rPr lang="en-US" sz="2744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All member records are stored securely in the SQLite3 database for quick retrieval and management.</a:t>
            </a: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727191" y="2856930"/>
            <a:ext cx="4914903" cy="47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52"/>
              </a:lnSpc>
            </a:pPr>
            <a:r>
              <a:rPr lang="en-US" sz="3414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Module 2 - Add Member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372737" y="806401"/>
            <a:ext cx="6418123" cy="7739987"/>
          </a:xfrm>
          <a:custGeom>
            <a:avLst/>
            <a:gdLst/>
            <a:ahLst/>
            <a:cxnLst/>
            <a:rect l="l" t="t" r="r" b="b"/>
            <a:pathLst>
              <a:path w="6418123" h="7739987">
                <a:moveTo>
                  <a:pt x="0" y="0"/>
                </a:moveTo>
                <a:lnTo>
                  <a:pt x="6418123" y="0"/>
                </a:lnTo>
                <a:lnTo>
                  <a:pt x="6418123" y="7739987"/>
                </a:lnTo>
                <a:lnTo>
                  <a:pt x="0" y="7739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8" r="-1008" b="-2397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96550" y="4433762"/>
            <a:ext cx="9894900" cy="32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Manage lending and return transactions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Fields: Book Name, Member Name, Date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Track due dates and return status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Prevents duplicate lending conflicts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Auto-updates book availability on return</a:t>
            </a: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02770" y="2856930"/>
            <a:ext cx="5500573" cy="912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81"/>
              </a:lnSpc>
            </a:pPr>
            <a:r>
              <a:rPr lang="en-US" sz="3346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Module 3 - Lend/Return Book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30402" y="793797"/>
            <a:ext cx="16297977" cy="8670114"/>
          </a:xfrm>
          <a:custGeom>
            <a:avLst/>
            <a:gdLst/>
            <a:ahLst/>
            <a:cxnLst/>
            <a:rect l="l" t="t" r="r" b="b"/>
            <a:pathLst>
              <a:path w="16297977" h="8670114">
                <a:moveTo>
                  <a:pt x="0" y="0"/>
                </a:moveTo>
                <a:lnTo>
                  <a:pt x="16297977" y="0"/>
                </a:lnTo>
                <a:lnTo>
                  <a:pt x="16297977" y="8670113"/>
                </a:lnTo>
                <a:lnTo>
                  <a:pt x="0" y="8670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" b="-82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66418" y="-2697873"/>
            <a:ext cx="9825208" cy="12822457"/>
          </a:xfrm>
          <a:custGeom>
            <a:avLst/>
            <a:gdLst/>
            <a:ahLst/>
            <a:cxnLst/>
            <a:rect l="l" t="t" r="r" b="b"/>
            <a:pathLst>
              <a:path w="9825208" h="12822457">
                <a:moveTo>
                  <a:pt x="0" y="0"/>
                </a:moveTo>
                <a:lnTo>
                  <a:pt x="9825207" y="0"/>
                </a:lnTo>
                <a:lnTo>
                  <a:pt x="9825207" y="12822457"/>
                </a:lnTo>
                <a:lnTo>
                  <a:pt x="0" y="12822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0873" y="3793086"/>
            <a:ext cx="4280766" cy="3999056"/>
          </a:xfrm>
          <a:custGeom>
            <a:avLst/>
            <a:gdLst/>
            <a:ahLst/>
            <a:cxnLst/>
            <a:rect l="l" t="t" r="r" b="b"/>
            <a:pathLst>
              <a:path w="4280766" h="3999056">
                <a:moveTo>
                  <a:pt x="0" y="0"/>
                </a:moveTo>
                <a:lnTo>
                  <a:pt x="4280766" y="0"/>
                </a:lnTo>
                <a:lnTo>
                  <a:pt x="4280766" y="3999056"/>
                </a:lnTo>
                <a:lnTo>
                  <a:pt x="0" y="3999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394674" y="-1454738"/>
            <a:ext cx="5381659" cy="4056425"/>
          </a:xfrm>
          <a:custGeom>
            <a:avLst/>
            <a:gdLst/>
            <a:ahLst/>
            <a:cxnLst/>
            <a:rect l="l" t="t" r="r" b="b"/>
            <a:pathLst>
              <a:path w="5381659" h="4056425">
                <a:moveTo>
                  <a:pt x="0" y="0"/>
                </a:moveTo>
                <a:lnTo>
                  <a:pt x="5381659" y="0"/>
                </a:lnTo>
                <a:lnTo>
                  <a:pt x="5381659" y="4056425"/>
                </a:lnTo>
                <a:lnTo>
                  <a:pt x="0" y="4056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65643" y="7601742"/>
            <a:ext cx="5581585" cy="4207120"/>
          </a:xfrm>
          <a:custGeom>
            <a:avLst/>
            <a:gdLst/>
            <a:ahLst/>
            <a:cxnLst/>
            <a:rect l="l" t="t" r="r" b="b"/>
            <a:pathLst>
              <a:path w="5581585" h="4207120">
                <a:moveTo>
                  <a:pt x="0" y="0"/>
                </a:moveTo>
                <a:lnTo>
                  <a:pt x="5581586" y="0"/>
                </a:lnTo>
                <a:lnTo>
                  <a:pt x="5581586" y="4207120"/>
                </a:lnTo>
                <a:lnTo>
                  <a:pt x="0" y="4207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96550" y="4433762"/>
            <a:ext cx="9894900" cy="32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Search books by Title, Author, or status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Filter results by availability status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Real-time results as you type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Clean search interface for quick lookups</a:t>
            </a:r>
          </a:p>
          <a:p>
            <a:pPr marL="0" lvl="0" indent="0" algn="l">
              <a:lnSpc>
                <a:spcPts val="5082"/>
              </a:lnSpc>
            </a:pPr>
            <a:r>
              <a:rPr lang="en-US" sz="3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Reduces time spent locating books manually</a:t>
            </a: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727191" y="2856930"/>
            <a:ext cx="4914903" cy="912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81"/>
              </a:lnSpc>
            </a:pPr>
            <a:r>
              <a:rPr lang="en-US" sz="3346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Module 4 - Search &amp; Filter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66418" y="-2697873"/>
            <a:ext cx="9825208" cy="12822457"/>
          </a:xfrm>
          <a:custGeom>
            <a:avLst/>
            <a:gdLst/>
            <a:ahLst/>
            <a:cxnLst/>
            <a:rect l="l" t="t" r="r" b="b"/>
            <a:pathLst>
              <a:path w="9825208" h="12822457">
                <a:moveTo>
                  <a:pt x="0" y="0"/>
                </a:moveTo>
                <a:lnTo>
                  <a:pt x="9825207" y="0"/>
                </a:lnTo>
                <a:lnTo>
                  <a:pt x="9825207" y="12822457"/>
                </a:lnTo>
                <a:lnTo>
                  <a:pt x="0" y="12822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0873" y="3793086"/>
            <a:ext cx="4280766" cy="3999056"/>
          </a:xfrm>
          <a:custGeom>
            <a:avLst/>
            <a:gdLst/>
            <a:ahLst/>
            <a:cxnLst/>
            <a:rect l="l" t="t" r="r" b="b"/>
            <a:pathLst>
              <a:path w="4280766" h="3999056">
                <a:moveTo>
                  <a:pt x="0" y="0"/>
                </a:moveTo>
                <a:lnTo>
                  <a:pt x="4280766" y="0"/>
                </a:lnTo>
                <a:lnTo>
                  <a:pt x="4280766" y="3999056"/>
                </a:lnTo>
                <a:lnTo>
                  <a:pt x="0" y="3999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394674" y="-1454738"/>
            <a:ext cx="5381659" cy="4056425"/>
          </a:xfrm>
          <a:custGeom>
            <a:avLst/>
            <a:gdLst/>
            <a:ahLst/>
            <a:cxnLst/>
            <a:rect l="l" t="t" r="r" b="b"/>
            <a:pathLst>
              <a:path w="5381659" h="4056425">
                <a:moveTo>
                  <a:pt x="0" y="0"/>
                </a:moveTo>
                <a:lnTo>
                  <a:pt x="5381659" y="0"/>
                </a:lnTo>
                <a:lnTo>
                  <a:pt x="5381659" y="4056425"/>
                </a:lnTo>
                <a:lnTo>
                  <a:pt x="0" y="4056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65643" y="7601742"/>
            <a:ext cx="5581585" cy="4207120"/>
          </a:xfrm>
          <a:custGeom>
            <a:avLst/>
            <a:gdLst/>
            <a:ahLst/>
            <a:cxnLst/>
            <a:rect l="l" t="t" r="r" b="b"/>
            <a:pathLst>
              <a:path w="5581585" h="4207120">
                <a:moveTo>
                  <a:pt x="0" y="0"/>
                </a:moveTo>
                <a:lnTo>
                  <a:pt x="5581586" y="0"/>
                </a:lnTo>
                <a:lnTo>
                  <a:pt x="5581586" y="4207120"/>
                </a:lnTo>
                <a:lnTo>
                  <a:pt x="0" y="4207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931568" y="321024"/>
            <a:ext cx="8486399" cy="9384278"/>
          </a:xfrm>
          <a:custGeom>
            <a:avLst/>
            <a:gdLst/>
            <a:ahLst/>
            <a:cxnLst/>
            <a:rect l="l" t="t" r="r" b="b"/>
            <a:pathLst>
              <a:path w="8486399" h="9384278">
                <a:moveTo>
                  <a:pt x="0" y="0"/>
                </a:moveTo>
                <a:lnTo>
                  <a:pt x="8486400" y="0"/>
                </a:lnTo>
                <a:lnTo>
                  <a:pt x="8486400" y="9384278"/>
                </a:lnTo>
                <a:lnTo>
                  <a:pt x="0" y="93842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96550" y="4452812"/>
            <a:ext cx="9894900" cy="333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66"/>
              </a:lnSpc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Total Books: Displays count of all books in the library</a:t>
            </a:r>
          </a:p>
          <a:p>
            <a:pPr marL="0" lvl="0" indent="0" algn="l">
              <a:lnSpc>
                <a:spcPts val="4466"/>
              </a:lnSpc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Total Members: Shows number of registered members</a:t>
            </a:r>
          </a:p>
          <a:p>
            <a:pPr marL="0" lvl="0" indent="0" algn="l">
              <a:lnSpc>
                <a:spcPts val="4466"/>
              </a:lnSpc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Currently Lent: Tracks books currently borrowed</a:t>
            </a:r>
          </a:p>
          <a:p>
            <a:pPr marL="0" lvl="0" indent="0" algn="l">
              <a:lnSpc>
                <a:spcPts val="4466"/>
              </a:lnSpc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Quick visual summary for instant insights</a:t>
            </a:r>
          </a:p>
          <a:p>
            <a:pPr marL="0" lvl="0" indent="0" algn="l">
              <a:lnSpc>
                <a:spcPts val="4466"/>
              </a:lnSpc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Real-time data fetched from SQLite3 database</a:t>
            </a:r>
          </a:p>
        </p:txBody>
      </p:sp>
      <p:sp>
        <p:nvSpPr>
          <p:cNvPr id="9" name="Freeform 9"/>
          <p:cNvSpPr/>
          <p:nvPr/>
        </p:nvSpPr>
        <p:spPr>
          <a:xfrm>
            <a:off x="4456545" y="2635714"/>
            <a:ext cx="3997326" cy="1322117"/>
          </a:xfrm>
          <a:custGeom>
            <a:avLst/>
            <a:gdLst/>
            <a:ahLst/>
            <a:cxnLst/>
            <a:rect l="l" t="t" r="r" b="b"/>
            <a:pathLst>
              <a:path w="3997326" h="1322117">
                <a:moveTo>
                  <a:pt x="0" y="0"/>
                </a:moveTo>
                <a:lnTo>
                  <a:pt x="3997326" y="0"/>
                </a:lnTo>
                <a:lnTo>
                  <a:pt x="3997326" y="1322117"/>
                </a:lnTo>
                <a:lnTo>
                  <a:pt x="0" y="1322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7181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56545" y="2859568"/>
            <a:ext cx="4914903" cy="912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81"/>
              </a:lnSpc>
            </a:pPr>
            <a:r>
              <a:rPr lang="en-US" sz="3346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Module 5 - Statistics Dashboard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09016" y="6532633"/>
            <a:ext cx="7478984" cy="3754367"/>
          </a:xfrm>
          <a:custGeom>
            <a:avLst/>
            <a:gdLst/>
            <a:ahLst/>
            <a:cxnLst/>
            <a:rect l="l" t="t" r="r" b="b"/>
            <a:pathLst>
              <a:path w="7478984" h="3754367">
                <a:moveTo>
                  <a:pt x="0" y="0"/>
                </a:moveTo>
                <a:lnTo>
                  <a:pt x="7478984" y="0"/>
                </a:lnTo>
                <a:lnTo>
                  <a:pt x="7478984" y="3754367"/>
                </a:lnTo>
                <a:lnTo>
                  <a:pt x="0" y="3754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20" b="-4956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37322" y="816568"/>
            <a:ext cx="12701202" cy="5511791"/>
          </a:xfrm>
          <a:custGeom>
            <a:avLst/>
            <a:gdLst/>
            <a:ahLst/>
            <a:cxnLst/>
            <a:rect l="l" t="t" r="r" b="b"/>
            <a:pathLst>
              <a:path w="12701202" h="5511791">
                <a:moveTo>
                  <a:pt x="0" y="0"/>
                </a:moveTo>
                <a:lnTo>
                  <a:pt x="12701202" y="0"/>
                </a:lnTo>
                <a:lnTo>
                  <a:pt x="12701202" y="5511791"/>
                </a:lnTo>
                <a:lnTo>
                  <a:pt x="0" y="5511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610"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39565"/>
            <a:ext cx="4914903" cy="87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35"/>
              </a:lnSpc>
            </a:pPr>
            <a:r>
              <a:rPr lang="en-US" sz="6294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Key Features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15677"/>
            <a:ext cx="9894900" cy="162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</a:pPr>
            <a:r>
              <a:rPr lang="en-US" sz="286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User-friendly GUI with Tkinter</a:t>
            </a:r>
          </a:p>
          <a:p>
            <a:pPr marL="0" lvl="0" indent="0" algn="l">
              <a:lnSpc>
                <a:spcPts val="4413"/>
              </a:lnSpc>
            </a:pPr>
            <a:r>
              <a:rPr lang="en-US" sz="286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Intuitive interface for easy navigation, accessible to all library staff with minimal training required.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9661" y="6498217"/>
            <a:ext cx="9894900" cy="162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</a:pPr>
            <a:r>
              <a:rPr lang="en-US" sz="286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Efficient Book &amp; Member Management</a:t>
            </a:r>
          </a:p>
          <a:p>
            <a:pPr marL="0" lvl="0" indent="0" algn="l">
              <a:lnSpc>
                <a:spcPts val="4413"/>
              </a:lnSpc>
            </a:pPr>
            <a:r>
              <a:rPr lang="en-US" sz="286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Seamlessly add, update, and manage book records and member profiles from a centralized dashboard.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277013"/>
            <a:ext cx="1056248" cy="17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5831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203794"/>
            <a:ext cx="1055989" cy="174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5828"/>
              </a:lnSpc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39565"/>
            <a:ext cx="4914903" cy="87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35"/>
              </a:lnSpc>
            </a:pPr>
            <a:r>
              <a:rPr lang="en-US" sz="6294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Key Features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06152"/>
            <a:ext cx="9894900" cy="187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78"/>
              </a:lnSpc>
            </a:pPr>
            <a:r>
              <a:rPr lang="en-US" sz="329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lending and return tracking — monitor all active loans, due dates, and return status instantly.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9661" y="6488642"/>
            <a:ext cx="9894900" cy="187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78"/>
              </a:lnSpc>
            </a:pPr>
            <a:r>
              <a:rPr lang="en-US" sz="329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Search, filter, statistics and reports — quickly find books by title, author, or status, and view library insights.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277013"/>
            <a:ext cx="1056248" cy="17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5831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203794"/>
            <a:ext cx="1055989" cy="174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5828"/>
              </a:lnSpc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39565"/>
            <a:ext cx="4914903" cy="89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3"/>
              </a:lnSpc>
            </a:pPr>
            <a:r>
              <a:rPr lang="en-US" sz="639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Advantages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06152"/>
            <a:ext cx="9894900" cy="187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78"/>
              </a:lnSpc>
            </a:pPr>
            <a:r>
              <a:rPr lang="en-US" sz="329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Reduces errors and paper usage. Saves valuable time for library staff and members with faster, automated processes.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9661" y="6488692"/>
            <a:ext cx="9894900" cy="187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78"/>
              </a:lnSpc>
            </a:pPr>
            <a:r>
              <a:rPr lang="en-US" sz="329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Improves record accuracy and accessibility. Enables quick data retrieval and efficient reporting at any time.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267488"/>
            <a:ext cx="1056248" cy="17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4"/>
              </a:lnSpc>
            </a:pPr>
            <a:r>
              <a:rPr lang="en-US" sz="6433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97333" y="6194269"/>
            <a:ext cx="1055989" cy="17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0"/>
              </a:lnSpc>
            </a:pPr>
            <a:r>
              <a:rPr lang="en-US" sz="6432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4145" y="0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748364" y="8843932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169859" y="5618309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47997" y="3253490"/>
            <a:ext cx="10792006" cy="22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396"/>
              </a:lnSpc>
            </a:pPr>
            <a:r>
              <a:rPr lang="en-US" sz="16258" b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You!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050468" y="1355173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746</Words>
  <Application>Microsoft Office PowerPoint</Application>
  <PresentationFormat>Custom</PresentationFormat>
  <Paragraphs>91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Aileron Bold</vt:lpstr>
      <vt:lpstr>Montserrat</vt:lpstr>
      <vt:lpstr>Montserrat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UI Masterplan</dc:title>
  <cp:lastModifiedBy>ANIKET ANIKET</cp:lastModifiedBy>
  <cp:revision>1</cp:revision>
  <dcterms:created xsi:type="dcterms:W3CDTF">2006-08-16T00:00:00Z</dcterms:created>
  <dcterms:modified xsi:type="dcterms:W3CDTF">2026-07-02T06:12:07Z</dcterms:modified>
  <dc:identifier>DAHOBq2nyko</dc:identifier>
</cp:coreProperties>
</file>